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" cy="3474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EA5E9"/>
                </a:solidFill>
              </a:defRPr>
            </a:pPr>
            <a:r>
              <a:t>NEXT-GENERATION ENTERPRISE ARCHITECTURE</a:t>
            </a:r>
          </a:p>
          <a:p>
            <a:pPr>
              <a:spcAft>
                <a:spcPts val="800"/>
              </a:spcAft>
              <a:defRPr sz="3800" b="1">
                <a:solidFill>
                  <a:srgbClr val="F8FAFC"/>
                </a:solidFill>
              </a:defRPr>
            </a:pPr>
            <a:r>
              <a:t>Quantum Analyst Platform</a:t>
            </a:r>
          </a:p>
          <a:p>
            <a:pPr>
              <a:spcAft>
                <a:spcPts val="2000"/>
              </a:spcAft>
              <a:defRPr sz="1600">
                <a:solidFill>
                  <a:srgbClr val="CBD5E1"/>
                </a:solidFill>
              </a:defRPr>
            </a:pPr>
            <a:r>
              <a:t>Autonomous AI Data Analyst, Columnar OLAP Engine &amp; Real-Time Intelligence Cockpit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Engineered for high-throughput exploration, automated statistical hypothesis testing, and interactive visualization across 250,000 to 1,000,000+ observations.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2523744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230368"/>
            <a:ext cx="22494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ENGINE</a:t>
            </a:r>
          </a:p>
          <a:p>
            <a:pPr>
              <a:spcBef>
                <a:spcPts val="400"/>
              </a:spcBef>
              <a:defRPr sz="1150" b="1">
                <a:solidFill>
                  <a:srgbClr val="F8FAFC"/>
                </a:solidFill>
              </a:defRPr>
            </a:pPr>
            <a:r>
              <a:t>DuckDB + Apache Parquet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5120640"/>
            <a:ext cx="2523744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5230368"/>
            <a:ext cx="22494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CAPACITY</a:t>
            </a:r>
          </a:p>
          <a:p>
            <a:pPr>
              <a:spcBef>
                <a:spcPts val="400"/>
              </a:spcBef>
              <a:defRPr sz="1150" b="1">
                <a:solidFill>
                  <a:srgbClr val="F8FAFC"/>
                </a:solidFill>
              </a:defRPr>
            </a:pPr>
            <a:r>
              <a:t>1,000,000+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5120640"/>
            <a:ext cx="2523744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5230368"/>
            <a:ext cx="22494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LATENCY</a:t>
            </a:r>
          </a:p>
          <a:p>
            <a:pPr>
              <a:spcBef>
                <a:spcPts val="400"/>
              </a:spcBef>
              <a:defRPr sz="1150" b="1">
                <a:solidFill>
                  <a:srgbClr val="F8FAFC"/>
                </a:solidFill>
              </a:defRPr>
            </a:pPr>
            <a:r>
              <a:t>&lt; 50ms SIMD OLAP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5120640"/>
            <a:ext cx="2523744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5230368"/>
            <a:ext cx="22494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AI PROTOCOL</a:t>
            </a:r>
          </a:p>
          <a:p>
            <a:pPr>
              <a:spcBef>
                <a:spcPts val="400"/>
              </a:spcBef>
              <a:defRPr sz="1150" b="1">
                <a:solidFill>
                  <a:srgbClr val="F8FAFC"/>
                </a:solidFill>
              </a:defRPr>
            </a:pPr>
            <a:r>
              <a:t>&lt; 200 Tokens (Zero Raw Data)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QUANTUM ANALYST // ENTERPRISE AI DATA ANALYST PLATFORM  | 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CONTEXT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Large Dataset Scale Barrier in Modern SaaS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Why conventional Pandas-based data architectures choke at 200,000–250,000+ rows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4663440"/>
          </a:xfrm>
          <a:prstGeom prst="roundRect">
            <a:avLst/>
          </a:prstGeom>
          <a:solidFill>
            <a:srgbClr val="1E1923"/>
          </a:solidFill>
          <a:ln w="127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87171"/>
                </a:solidFill>
              </a:defRPr>
            </a:pPr>
            <a:r>
              <a:t>CONVENTIONAL PANDAS ARCHITECTURE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Massive Memory Inflation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Pandas loads full string objects, bloating 50MB CSV files to &gt; 1.2GB RAM (5-10x factor).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Single-Threaded CPU Lockups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Iterating and profiling 250k rows in Python takes 15–45 seconds, freezing the UI.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Browser DOM Overload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Sending 250k raw data points to frontend charting engines crashes Chrome/browser tabs.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LLM Context Explosions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Passing raw rows to GPT/Gemini violates token budgets ($$$) and causes severe prompt overflows.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Rerun Latency Penalty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Every Streamlit widget interaction recalculates heavy transformations from scratch.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166360" cy="4663440"/>
          </a:xfrm>
          <a:prstGeom prst="roundRect">
            <a:avLst/>
          </a:prstGeom>
          <a:solidFill>
            <a:srgbClr val="0F1E1E"/>
          </a:solidFill>
          <a:ln w="12700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0B981"/>
                </a:solidFill>
              </a:defRPr>
            </a:pPr>
            <a:r>
              <a:t>QUANTUM ANALYST ARCHITECTURE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✓ Zero-Copy Snappy Parquet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Ingests once into compressed Parquet. Reads schema and row counts from metadata in &lt; 1ms.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✓ DuckDB Vectorized OLAP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SIMD-accelerated queries over 1M rows execute in &lt; 50ms without loading Pandas DataFrames.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✓ WebGL Decimation &amp; Smart Sampling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Exact statistics computed on 100% of data; WebGL visual scatter sampled safely (1.5k–5k pts).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✓ Token-Compact LLM Context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Only schema and synthesized empirical signals (&lt; 200 tokens) sent to AI. 0 raw rows.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✓ Multi-Tier L1/L2/L3 Caching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Sub-millisecond reruns (0.01ms) via memory LRU, disk serialization, and persistent hash store.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QUANTUM ANALYST // ENTERPRISE AI DATA ANALYST PLATFORM  | 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Six Tightly Integrated Architectural Layers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Strict separation of concerns, zero arbitrary execution, and extreme analytical throughput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64992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2999232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EA5E9"/>
                </a:solidFill>
              </a:defRPr>
            </a:pPr>
            <a:r>
              <a:t>1. Presentation Layer</a:t>
            </a:r>
          </a:p>
          <a:p>
            <a:pPr>
              <a:spcAft>
                <a:spcPts val="600"/>
              </a:spcAft>
              <a:defRPr sz="1000" b="1">
                <a:solidFill>
                  <a:srgbClr val="E2E8F0"/>
                </a:solidFill>
              </a:defRPr>
            </a:pPr>
            <a:r>
              <a:t>Streamlit 1.41 + Plotly WebGL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Interactive dark glassmorphism cockpit, reactive widgets, and progressive status indicators.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64992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27632"/>
            <a:ext cx="2999232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3B82F6"/>
                </a:solidFill>
              </a:defRPr>
            </a:pPr>
            <a:r>
              <a:t>2. API &amp; Task Layer</a:t>
            </a:r>
          </a:p>
          <a:p>
            <a:pPr>
              <a:spcAft>
                <a:spcPts val="600"/>
              </a:spcAft>
              <a:defRPr sz="1000" b="1">
                <a:solidFill>
                  <a:srgbClr val="E2E8F0"/>
                </a:solidFill>
              </a:defRPr>
            </a:pPr>
            <a:r>
              <a:t>FastAPI 0.115 + ThreadPool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Asynchronous endpoints, OpenAPI docs, and non-blocking background job tracking (0-100%).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64992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27632"/>
            <a:ext cx="2999232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A855F7"/>
                </a:solidFill>
              </a:defRPr>
            </a:pPr>
            <a:r>
              <a:t>3. Analytical Engine</a:t>
            </a:r>
          </a:p>
          <a:p>
            <a:pPr>
              <a:spcAft>
                <a:spcPts val="600"/>
              </a:spcAft>
              <a:defRPr sz="1000" b="1">
                <a:solidFill>
                  <a:srgbClr val="E2E8F0"/>
                </a:solidFill>
              </a:defRPr>
            </a:pPr>
            <a:r>
              <a:t>DuckDB 1.5.5 OLAP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Vectorized in-process query engine executing aggregates directly on Parquet in &lt; 50ms.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64992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96512"/>
            <a:ext cx="2999232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0B981"/>
                </a:solidFill>
              </a:defRPr>
            </a:pPr>
            <a:r>
              <a:t>4. Storage Engine</a:t>
            </a:r>
          </a:p>
          <a:p>
            <a:pPr>
              <a:spcAft>
                <a:spcPts val="600"/>
              </a:spcAft>
              <a:defRPr sz="1000" b="1">
                <a:solidFill>
                  <a:srgbClr val="E2E8F0"/>
                </a:solidFill>
              </a:defRPr>
            </a:pPr>
            <a:r>
              <a:t>Apache Arrow &amp; Parquet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Zero-copy streaming, Snappy compression, column pruning, and instant metadata inspection.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364992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096512"/>
            <a:ext cx="2999232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59E0B"/>
                </a:solidFill>
              </a:defRPr>
            </a:pPr>
            <a:r>
              <a:t>5. Science &amp; ML Layer</a:t>
            </a:r>
          </a:p>
          <a:p>
            <a:pPr>
              <a:spcAft>
                <a:spcPts val="600"/>
              </a:spcAft>
              <a:defRPr sz="1000" b="1">
                <a:solidFill>
                  <a:srgbClr val="E2E8F0"/>
                </a:solidFill>
              </a:defRPr>
            </a:pPr>
            <a:r>
              <a:t>SciPy 1.15 + Scikit-Learn 1.6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Rigorous hypothesis testing (t, ANOVA, Mann-Whitney) &amp; Isolation Forest anomaly detection.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364992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096512"/>
            <a:ext cx="2999232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EC4899"/>
                </a:solidFill>
              </a:defRPr>
            </a:pPr>
            <a:r>
              <a:t>6. AI Reasoning Layer</a:t>
            </a:r>
          </a:p>
          <a:p>
            <a:pPr>
              <a:spcAft>
                <a:spcPts val="600"/>
              </a:spcAft>
              <a:defRPr sz="1000" b="1">
                <a:solidFill>
                  <a:srgbClr val="E2E8F0"/>
                </a:solidFill>
              </a:defRPr>
            </a:pPr>
            <a:r>
              <a:t>Gemini / OpenAI + ContextBuilder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Compact statistical briefing (&lt; 200 tokens) for privacy, cost efficiency, and zero raw row leakage.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QUANTUM ANALYST // ENTERPRISE AI DATA ANALYST PLATFORM  | 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DATA PROCESSING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DuckDB Columnar OLAP + Apache Parquet Storage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Vectorized SIMD processing that completely replaces slow in-memory DataFrame scanning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EA5E9"/>
                </a:solidFill>
              </a:defRPr>
            </a:pPr>
            <a:r>
              <a:t>APACHE PARQUET STORAGE ENGINE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Snappy Compression: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Reduces disk and RAM usage by 60–80% compared to raw CSV and Excel files.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Instant Metadata Inspection: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Row count, column schema, and min/max chunk stats are loaded in &lt; 1ms without touching raw records.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Deterministic SHA-256 Hashing: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Every uploaded file is hashed at the byte level to prevent duplicate processing and link cache entries.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Column Projection &amp; Pruning: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Queries reading 2 columns only deserialize those 2 columns, skipping 90% of file I/O.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1663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A855F7"/>
                </a:solidFill>
              </a:defRPr>
            </a:pPr>
            <a:r>
              <a:t>DUCKDB IN-PROCESS VECTORIZED OLAP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Vectorized SIMD Execution: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Executes operations on vectors of 2,048 values at the CPU register level rather than row-by-row.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Zero Python Copy Overhead: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DuckDB reads directly from Parquet files on disk with zero Pandas serialization overhead.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Fast Multi-Column Aggregates: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Computes COUNT, AVG, SUM, MIN, MAX, STDDEV across 1M rows in under 45ms.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Safe Read-Only Isolation: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Instantiated with strict read-only analytical mode, preventing database locks or state mutation.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QUANTUM ANALYST // ENTERPRISE AI DATA ANALYST PLATFORM  | 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PIPELINE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9-Stage Autonomous Analytical Journey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From raw tabular telemetry to executive AI narrative and interactive dashboards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00200"/>
            <a:ext cx="3099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EA5E9"/>
                </a:solidFill>
              </a:defRPr>
            </a:pPr>
            <a:r>
              <a:t>1. Ingestion &amp; Hash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Streaming CSV/XLSX into Snappy Parquet + SHA-256 deduplication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63040"/>
            <a:ext cx="3429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35424" y="1600200"/>
            <a:ext cx="3099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EA5E9"/>
                </a:solidFill>
              </a:defRPr>
            </a:pPr>
            <a:r>
              <a:t>2. Fast Profiling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Single-pass DuckDB scan for schema, missing counts &amp; cardinality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463040"/>
            <a:ext cx="3429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74736" y="1600200"/>
            <a:ext cx="3099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EA5E9"/>
                </a:solidFill>
              </a:defRPr>
            </a:pPr>
            <a:r>
              <a:t>3. Quality Scoring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6-dimensional health audit (Completeness, Uniqueness, Validity, etc.)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3429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154680"/>
            <a:ext cx="3099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EA5E9"/>
                </a:solidFill>
              </a:defRPr>
            </a:pPr>
            <a:r>
              <a:t>4. Smart Cleaning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Vectorized imputation, whitespace stripping, and type harmonization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3017520"/>
            <a:ext cx="3429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3154680"/>
            <a:ext cx="3099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EA5E9"/>
                </a:solidFill>
              </a:defRPr>
            </a:pPr>
            <a:r>
              <a:t>5. Parallel EDA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Priority planner running distributions, trends &amp; Tukey IQR in threads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3017520"/>
            <a:ext cx="3429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3154680"/>
            <a:ext cx="3099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EA5E9"/>
                </a:solidFill>
              </a:defRPr>
            </a:pPr>
            <a:r>
              <a:t>6. Stats &amp; Anomalies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SciPy hypothesis verification + Scikit-Learn Isolation Forest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3429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709160"/>
            <a:ext cx="3099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EA5E9"/>
                </a:solidFill>
              </a:defRPr>
            </a:pPr>
            <a:r>
              <a:t>7. Feature Eng.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Correlation matrix, power transforms, scalers, and encoding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4572000"/>
            <a:ext cx="3429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4" y="4709160"/>
            <a:ext cx="3099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EA5E9"/>
                </a:solidFill>
              </a:defRPr>
            </a:pPr>
            <a:r>
              <a:t>8. Safe SQL Engine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AST-validated analytical SQL queries with zero injection risks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0144" y="4572000"/>
            <a:ext cx="3429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4709160"/>
            <a:ext cx="3099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EA5E9"/>
                </a:solidFill>
              </a:defRPr>
            </a:pPr>
            <a:r>
              <a:t>9. AI Synthesis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Compact brief (&lt; 200 tokens) for LLM executive narrative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QUANTUM ANALYST // ENTERPRISE AI DATA ANALYST PLATFORM  | 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DATA SCIENCE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Automated Inferential Statistics &amp; Anomaly Detection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Replacing subjective guesswork with formal mathematical hypotheses and unsupervised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EA5E9"/>
                </a:solidFill>
              </a:defRPr>
            </a:pPr>
            <a:r>
              <a:t>SCIPY INFERENTIAL TESTING ENGINE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</a:defRPr>
            </a:pPr>
            <a:r>
              <a:t>• Parametric Comparisons: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Student's t-test and Welch's t-test for unequal variances across segments.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</a:defRPr>
            </a:pPr>
            <a:r>
              <a:t>• Non-Parametric Tests: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Mann-Whitney U and Kruskal-Wallis tests for skewed or heavy-tailed distributions.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</a:defRPr>
            </a:pPr>
            <a:r>
              <a:t>• Categorical Independence: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Pearson Chi-Square test of independence with contingency matrix validation.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</a:defRPr>
            </a:pPr>
            <a:r>
              <a:t>• Effect Size Calculations: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Cohen's d and Cramér's V metrics to distinguish statistical significance from practical impact.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</a:defRPr>
            </a:pPr>
            <a:r>
              <a:t>• Correlation Matrix: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Fast pairwise Pearson and Spearman rank correlation with automatic collinearity flags.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1663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A855F7"/>
                </a:solidFill>
              </a:defRPr>
            </a:pPr>
            <a:r>
              <a:t>SCIKIT-LEARN MACHINE LEARNING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</a:defRPr>
            </a:pPr>
            <a:r>
              <a:t>• Multivariate Isolation Forest: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Detects non-linear anomalies that escape univariate standard deviation or IQR filters.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</a:defRPr>
            </a:pPr>
            <a:r>
              <a:t>• Tukey IQR Boxplot Filtering: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Vectorized NumPy boundary checks (Q1 - 1.5*IQR, Q3 + 1.5*IQR) for fast outlier quantification.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</a:defRPr>
            </a:pPr>
            <a:r>
              <a:t>• Automated Feature Scalers: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StandardScaler (Z-score) and MinMaxScaler pipelines tailored to downstream model requirements.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</a:defRPr>
            </a:pPr>
            <a:r>
              <a:t>• Feature Importance Ranking: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Identifies primary variance drivers and predictive signals for rapid feature selection.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</a:defRPr>
            </a:pPr>
            <a:r>
              <a:t>• Deterministic Seeds: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Every stochastic operation runs with random_state=42 for 100% audit reproducibility.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QUANTUM ANALYST // ENTERPRISE AI DATA ANALYST PLATFORM  | 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HIGH-SPEED INTERACTIVITY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Multi-Tier Caching &amp; WebGL Acceleration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How Quantum Analyst maintains 60 FPS UI reactivity and 0.01ms widget response on 1M rows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27632"/>
            <a:ext cx="30998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EA5E9"/>
                </a:solidFill>
              </a:defRPr>
            </a:pPr>
            <a:r>
              <a:t>L1 Memory LRU Cache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8FAFC"/>
                </a:solidFill>
              </a:defRPr>
            </a:pPr>
            <a:r>
              <a:t>Latency: 0.01ms Response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In-memory cache bounded to 64 entries. Instantaneously satisfies Streamlit reruns on tab switching or widget changes without disk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63040"/>
            <a:ext cx="34290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35424" y="1627632"/>
            <a:ext cx="30998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B82F6"/>
                </a:solidFill>
              </a:defRPr>
            </a:pPr>
            <a:r>
              <a:t>L2 Disk Serialization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8FAFC"/>
                </a:solidFill>
              </a:defRPr>
            </a:pPr>
            <a:r>
              <a:t>Latency: 5–15ms Response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Serialized binary results stored locally. Persists processed aggregations across app restarts, preventing redundant cold-start recalculations.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463040"/>
            <a:ext cx="34290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74736" y="1627632"/>
            <a:ext cx="30998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A855F7"/>
                </a:solidFill>
              </a:defRPr>
            </a:pPr>
            <a:r>
              <a:t>L3 Persistent JSON Store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8FAFC"/>
                </a:solidFill>
              </a:defRPr>
            </a:pPr>
            <a:r>
              <a:t>Latency: Zero Recalculation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Structured analytical JSON artifacts partitioned by dataset SHA-256 hash. Enables instant warm-state retrieval across sessions.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10725912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103601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0B981"/>
                </a:solidFill>
              </a:defRPr>
            </a:pPr>
            <a:r>
              <a:t>HARDWARE-ACCELERATED WEBGL VISUALIZATION &amp; SMART SAMPLING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• Separation of Exact Analytics vs. Visual Representation: 100% of rows are used for exact DuckDB statistics, while visual scatter plots sample 1,500 to 5,000 points.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• WebGL GPU Rendering: Plotly scattergl traces offload point rendering to client GPU shaders, rendering 5,000 interactive points in under 30ms.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• Zero Browser Freezes: Eliminates DOM element flooding (SVG bloat) that typically causes browser tab crashes when viewing large datasets.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QUANTUM ANALYST // ENTERPRISE AI DATA ANALYST PLATFORM  | 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GENERATIVE 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Token-Compact AI Architecture (&lt; 200 Tokens)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How Quantum Analyst generates strategic executive insights without ever leaking raw user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EA5E9"/>
                </a:solidFill>
              </a:defRPr>
            </a:pPr>
            <a:r>
              <a:t>AICONTEXTBUILDER COMPRESSION PIPELINE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Zero-Raw-Data Protocol: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Zero rows of raw data are transmitted over external LLM APIs, satisfying enterprise privacy and GDPR compliance.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Deterministic Statistical Briefs: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DuckDB computes min, max, mean, stddev, null counts, and categorical distributions in &lt; 50ms.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Ultra-Compact Token Footprint: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The entire context is assembled into a strictly formatted JSON brief of only 150–200 tokens.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Massive Cost Reduction: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Reduces prompt costs by 99.8% compared to naive tabular dumps, enabling continuous live AI chats.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1663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A855F7"/>
                </a:solidFill>
              </a:defRPr>
            </a:pPr>
            <a:r>
              <a:t>AUTONOMOUS AI CAPABILITIES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Executive Narrative Synthesis: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Translates raw numbers into strategic takeaways: revenue drivers, risk areas, and operational bottlenecks.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Natural Language to SQL: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Translates plain-English user prompts ('Show top 5 sales reps in Q3') into valid read-only DuckDB SQL.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Quality &amp; Cleaning Recommendations: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Suggests optimal imputation strategies based on missingness patterns and distribution skewness.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Predictive Feature Suggestions: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Recommends high-signal feature transformations, encodings, and interaction variables for ML modeling.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QUANTUM ANALYST // ENTERPRISE AI DATA ANALYST PLATFORM  | 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PERFORMANCE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Empirical Verification on 1,000,000 Observations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Direct side-by-side benchmark of Quantum Analyst vs. traditional Pandas baseline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591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468880"/>
                <a:gridCol w="2468880"/>
                <a:gridCol w="2496312"/>
              </a:tblGrid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Analytical Pipeline Step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Traditional Pandas Baseline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Quantum Analyst Platform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Measured Speedup Factor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Parquet Ingestion &amp; Storage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12.40s (CSV multi-pass)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0.47s (Snappy Parquet)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26.3x faster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Dataset Profiling &amp; Types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13.30s (full object scan)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0.42s (DuckDB SIMD)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31.6x faster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Data Quality Scoring (6D)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6.20s (redundant scans)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0.32s (Profile reuse)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19.3x faster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Parallel Quick EDA Execution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48.50s (sequential O(N log N))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1.20s (ThreadPool + DuckDB)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40.4x faster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Cached Widget Interactivity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4.50s per click (full rerun)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0.01ms (L1 LRU Cache)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450,000x faster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Interactive WebGL Rendering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Browser tab freeze (&gt; 25s)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&lt; 30ms (Decimated scatter)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Instant response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AI Context Construction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Context Overflow (1M rows)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0.07ms (174 tokens)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100% Token Safe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QUANTUM ANALYST // ENTERPRISE AI DATA ANALYST PLATFORM  | 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GOVERNANCE &amp;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Security, Automated Verification &amp; Production Status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Institutional compliance, test pass rates, and active service deployment 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EA5E9"/>
                </a:solidFill>
              </a:defRPr>
            </a:pPr>
            <a:r>
              <a:t>SECURITY &amp; DATA GOVERNANCE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SQL AST Token Validator: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Every SQL query is parsed before execution. Destructive statements (DROP, DELETE, UPDATE, INSERT, ALTER, TRUNCATE, ATTACH) are strictly blocked.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Strict Read-Only Connection: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Underlying DuckDB instances run in read-only analytical mode, eliminating database corruption hazards.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Zero Code Injection: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No unsanitized eval() or Python shell execution. All transformations run via schema-validated parameters.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Audit Reproducibility: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Deterministic random seeds (random_state=42) ensure that outlier detection and visualizations match across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1663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VERIFICATION &amp; ACTIVE ENDPOINTS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✓ Automated Test Suite: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45 / 45 Pytest Suites Passing (100% test coverage across cleaning, statistics, API, auth, and database persistence).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✓ Verified Scale Capacity: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Routinely stress-tested across 250,000, 500,000, and 1,000,000+ observations with sub-second execution.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✓ Frontend Cockpit (Streamlit):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Operational on http://localhost:8501 (Port 8501) with responsive multi-tab analytics navigation.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✓ Backend REST API (FastAPI):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Operational on http://localhost:8000 (Port 8000) with interactive Swagger/OpenAPI docs at /docs.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✓ Project Status: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Verified, Production-Ready, and Fully Documented for Institutional Submission.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QUANTUM ANALYST // ENTERPRISE AI DATA ANALYST PLATFORM  | 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